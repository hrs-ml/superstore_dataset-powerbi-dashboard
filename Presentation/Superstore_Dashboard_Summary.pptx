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40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7" y="2084486"/>
            <a:ext cx="9191625" cy="2688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70496" y="2655986"/>
            <a:ext cx="8051006" cy="78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87"/>
              </a:lnSpc>
            </a:pPr>
            <a:r>
              <a:rPr sz="5625" b="1" i="0" u="none">
                <a:solidFill>
                  <a:srgbClr val="0F172A"/>
                </a:solidFill>
                <a:latin typeface="Poppins"/>
              </a:rPr>
              <a:t>Superstore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2187" y="3632299"/>
            <a:ext cx="76676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64748B"/>
                </a:solidFill>
                <a:latin typeface="Lato"/>
              </a:rPr>
              <a:t>Profitability Drivers &amp; Discount Strategies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9750" y="1600200"/>
            <a:ext cx="90487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Technology Drives Profit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Technology sub-categories, particularly Copiers and Phones, are the primary engines of profitability, boasting high margins even with moderate discounts.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2969567"/>
            <a:ext cx="90487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The Furniture Deficit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The Furniture category is heavily underperforming. Sub-categories like Tables and Bookcases are actively destroying profit margins due to aggressive discounting.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4338935"/>
            <a:ext cx="9048750" cy="108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0F172A"/>
                </a:solidFill>
                <a:latin typeface="Lato"/>
              </a:rPr>
              <a:t>Strategic Realignment Needed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Discounts exceeding 15% consistently correlate with net losses. A strict revision of the discounting policy is required to return loss-leaders to profitability.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633537"/>
            <a:ext cx="2667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002905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372272"/>
            <a:ext cx="266700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1E293B"/>
                </a:solidFill>
                <a:latin typeface="Poppins"/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10668000" cy="46863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029200"/>
            <a:ext cx="10668000" cy="105132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7750" y="5219700"/>
            <a:ext cx="100965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1" u="none">
                <a:solidFill>
                  <a:srgbClr val="475569"/>
                </a:solidFill>
                <a:latin typeface="Lato"/>
              </a:rPr>
              <a:t>Copiers generate exceptional profit ($55.6K) despite lower overall sales volumes. The Technology and Office Supplies categories dominate the top performers.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029200"/>
            <a:ext cx="57150" cy="1051321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1E293B"/>
                </a:solidFill>
                <a:latin typeface="Poppins"/>
              </a:rPr>
              <a:t>Top Profit Centers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00200"/>
            <a:ext cx="504825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5338" y="1233308"/>
            <a:ext cx="5300662" cy="307777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High Discounts Can Pressure Profitability</a:t>
            </a:r>
            <a:endParaRPr sz="2000" b="1" i="0" u="none" dirty="0">
              <a:solidFill>
                <a:srgbClr val="FF0000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0203" y="1676518"/>
            <a:ext cx="504825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dirty="0"/>
              <a:t>Our analysis shows a </a:t>
            </a:r>
            <a:r>
              <a:rPr lang="en-IN" b="1" dirty="0"/>
              <a:t>weak negative relationship (-0.22)</a:t>
            </a:r>
            <a:r>
              <a:rPr lang="en-IN" dirty="0"/>
              <a:t> between average discount and total profit. The impact is particularly visible in several Furniture sub-categories.</a:t>
            </a:r>
            <a:endParaRPr b="0" i="0" u="none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03" y="1257801"/>
            <a:ext cx="2476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496" y="2990741"/>
            <a:ext cx="4571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898" y="2990741"/>
            <a:ext cx="4762352" cy="276999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r>
              <a:rPr lang="en-IN" b="1" dirty="0"/>
              <a:t>Tables:</a:t>
            </a:r>
            <a:r>
              <a:rPr lang="en-IN" dirty="0"/>
              <a:t> ~26% average discount → </a:t>
            </a:r>
            <a:r>
              <a:rPr lang="en-IN" b="1" dirty="0"/>
              <a:t>-$17.7K profit</a:t>
            </a:r>
            <a:endParaRPr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9879" y="3592144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898" y="3590261"/>
            <a:ext cx="4857750" cy="276999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r>
              <a:rPr lang="en-IN" b="1" dirty="0"/>
              <a:t>Bookcases:</a:t>
            </a:r>
            <a:r>
              <a:rPr lang="en-IN" dirty="0"/>
              <a:t> ~21% average discount → </a:t>
            </a:r>
            <a:r>
              <a:rPr lang="en-IN" b="1" dirty="0"/>
              <a:t>-$3.4K profit</a:t>
            </a:r>
            <a:endParaRPr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5302" y="4106318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853" y="4073486"/>
            <a:ext cx="4857750" cy="553998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r>
              <a:rPr lang="en-IN" dirty="0"/>
              <a:t>Some sub-categories maintain positive profit even at higher discount levels.</a:t>
            </a:r>
            <a:endParaRPr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1E293B"/>
                </a:solidFill>
                <a:latin typeface="Poppins"/>
              </a:rPr>
              <a:t>The Discount Trap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8E5240-66BB-0C56-EE52-C026D0235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797" y="840875"/>
            <a:ext cx="6139398" cy="35988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1D1D75-93CA-0F5C-EAB1-40991188D959}"/>
              </a:ext>
            </a:extLst>
          </p:cNvPr>
          <p:cNvSpPr txBox="1"/>
          <p:nvPr/>
        </p:nvSpPr>
        <p:spPr>
          <a:xfrm>
            <a:off x="750203" y="4899302"/>
            <a:ext cx="8645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Insight:</a:t>
            </a:r>
            <a:r>
              <a:rPr lang="en-IN" sz="2000" dirty="0"/>
              <a:t> Discounting appears to be an important profitability factor, but its impact</a:t>
            </a:r>
          </a:p>
          <a:p>
            <a:r>
              <a:rPr lang="en-IN" sz="2000" dirty="0"/>
              <a:t> varies by sub-category and should be evaluated alongside pricing and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29486"/>
            <a:ext cx="4800600" cy="10387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 dirty="0">
                <a:solidFill>
                  <a:srgbClr val="1E293B"/>
                </a:solidFill>
                <a:latin typeface="Poppins"/>
              </a:rPr>
              <a:t>Strategic Action Plan (1</a:t>
            </a:r>
            <a:r>
              <a:rPr lang="en-IN" sz="3375" b="1" i="0" u="none" dirty="0">
                <a:solidFill>
                  <a:srgbClr val="1E293B"/>
                </a:solidFill>
                <a:latin typeface="Poppins"/>
              </a:rPr>
              <a:t>/2)</a:t>
            </a:r>
            <a:endParaRPr sz="3375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54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34155"/>
                </a:solidFill>
                <a:latin typeface="Poppins"/>
              </a:rPr>
              <a:t>1. Profit Margin Rehabilitation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11391"/>
            <a:ext cx="457200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solidFill>
                  <a:srgbClr val="475569"/>
                </a:solidFill>
                <a:latin typeface="Lato"/>
              </a:rPr>
              <a:t>Review discount thresholds and product-level costs for loss-making Furniture sub-categories, particularly Tables and Bookcases. Implement bundle pricing strategies to clear slow-moving Furniture inventory without further sacrificing base margins.</a:t>
            </a:r>
          </a:p>
          <a:p>
            <a:endParaRPr lang="en-US" sz="1600" dirty="0">
              <a:solidFill>
                <a:srgbClr val="475569"/>
              </a:solidFill>
              <a:latin typeface="Lato"/>
            </a:endParaRPr>
          </a:p>
          <a:p>
            <a:r>
              <a:rPr lang="en-US" sz="1600" dirty="0">
                <a:solidFill>
                  <a:srgbClr val="475569"/>
                </a:solidFill>
                <a:latin typeface="Lato"/>
              </a:rPr>
              <a:t>Target: Reduce the combined $21.1K loss from Tables and Bookcases through improved pricing, discount control, and inventory strategies.</a:t>
            </a:r>
            <a:endParaRPr sz="160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4384003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34155"/>
                </a:solidFill>
                <a:latin typeface="Poppins"/>
              </a:rPr>
              <a:t>2. Growth Acceleration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837433"/>
            <a:ext cx="4572000" cy="163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1650" dirty="0">
                <a:solidFill>
                  <a:srgbClr val="475569"/>
                </a:solidFill>
                <a:latin typeface="Lato"/>
              </a:rPr>
              <a:t>Reallocate promotional focus toward high-profit sub-categories such as Copiers, Phones, and Accessories. Prioritize targeted marketing campaigns and growth opportunities in these high-yield areas to improve overall return on investment.</a:t>
            </a:r>
            <a:endParaRPr sz="1650" b="0" i="0" u="none" dirty="0">
              <a:solidFill>
                <a:srgbClr val="475569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9750" y="1582885"/>
            <a:ext cx="8299450" cy="1311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b="1" i="0" u="none" dirty="0">
                <a:solidFill>
                  <a:srgbClr val="0F172A"/>
                </a:solidFill>
                <a:latin typeface="Lato"/>
              </a:rPr>
              <a:t>3. Implement Discounting Guardrails</a:t>
            </a:r>
            <a:r>
              <a:rPr b="0" i="0" u="none" dirty="0">
                <a:solidFill>
                  <a:srgbClr val="475569"/>
                </a:solidFill>
                <a:latin typeface="Lato"/>
              </a:rPr>
              <a:t> </a:t>
            </a:r>
            <a:r>
              <a:rPr lang="en-US" dirty="0">
                <a:solidFill>
                  <a:srgbClr val="475569"/>
                </a:solidFill>
                <a:latin typeface="Lato"/>
              </a:rPr>
              <a:t>Establish category-specific discount guidelines for products with high discount levels and weak profitability. Review high-discount transactions to reduce unnecessary margin erosion while maintaining competitive pricing.</a:t>
            </a:r>
            <a:endParaRPr b="0" i="0" u="none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9750" y="3444745"/>
            <a:ext cx="8411210" cy="977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b="1" i="0" u="none" dirty="0">
                <a:solidFill>
                  <a:srgbClr val="0F172A"/>
                </a:solidFill>
                <a:latin typeface="Lato"/>
              </a:rPr>
              <a:t>4. Ongoing Performance Tracking</a:t>
            </a:r>
            <a:r>
              <a:rPr b="0" i="0" u="none" dirty="0">
                <a:solidFill>
                  <a:srgbClr val="475569"/>
                </a:solidFill>
                <a:latin typeface="Lato"/>
              </a:rPr>
              <a:t>  </a:t>
            </a:r>
            <a:r>
              <a:rPr lang="en-US" dirty="0">
                <a:solidFill>
                  <a:srgbClr val="475569"/>
                </a:solidFill>
                <a:latin typeface="Lato"/>
              </a:rPr>
              <a:t>Establish a monthly review of Sales, Profit, and Discount performance. Track volatile categories and sub-categories regularly to identify emerging margin pressure and enable timely pricing and promotional adjustments.</a:t>
            </a:r>
            <a:endParaRPr b="0" i="0" u="none" dirty="0">
              <a:solidFill>
                <a:srgbClr val="475569"/>
              </a:solidFill>
              <a:latin typeface="Lato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086420"/>
            <a:ext cx="2667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748087"/>
            <a:ext cx="26670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1E293B"/>
                </a:solidFill>
                <a:latin typeface="Poppins"/>
              </a:rPr>
              <a:t>Strategic Action Plan (2/2)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391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 Gram</cp:lastModifiedBy>
  <cp:revision>3</cp:revision>
  <dcterms:created xsi:type="dcterms:W3CDTF">2013-01-27T09:14:16Z</dcterms:created>
  <dcterms:modified xsi:type="dcterms:W3CDTF">2026-09-07T17:12:39Z</dcterms:modified>
  <cp:category/>
</cp:coreProperties>
</file>